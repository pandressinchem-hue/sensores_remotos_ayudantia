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Plus Jakarta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D0208EB-5D56-46AC-85A6-A5F5AF3B8E33}">
  <a:tblStyle styleId="{FD0208EB-5D56-46AC-85A6-A5F5AF3B8E3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usJakartaSans-bold.fntdata"/><Relationship Id="rId11" Type="http://schemas.openxmlformats.org/officeDocument/2006/relationships/slide" Target="slides/slide5.xml"/><Relationship Id="rId22" Type="http://schemas.openxmlformats.org/officeDocument/2006/relationships/font" Target="fonts/PlusJakartaSans-boldItalic.fntdata"/><Relationship Id="rId10" Type="http://schemas.openxmlformats.org/officeDocument/2006/relationships/slide" Target="slides/slide4.xml"/><Relationship Id="rId21" Type="http://schemas.openxmlformats.org/officeDocument/2006/relationships/font" Target="fonts/PlusJakartaSans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PlusJakartaSans-regular.fntdata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762000" y="4673798"/>
            <a:ext cx="533400" cy="381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762000" y="2074664"/>
            <a:ext cx="114300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TALLER TEÓRICO • SENSORES REMOTOS Y CLIMATOLOGÍA URBANA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762000" y="2408039"/>
            <a:ext cx="8901112" cy="1051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Monitoreo Satelital de Islas de Calor Urbano Superficial en Cuenca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62000" y="3687960"/>
            <a:ext cx="7334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Evaluación multitemporal de temperatura de superficie y dinámica biofísica mediante sensores Landsat (1989–2022)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600200" y="4602360"/>
            <a:ext cx="4369593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Estudio de referencia: Alvarez et al. (2026), Heliyon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5756820" y="2390775"/>
            <a:ext cx="5825579" cy="876300"/>
          </a:xfrm>
          <a:prstGeom prst="roundRect">
            <a:avLst>
              <a:gd fmla="val 1304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/>
          <p:nvPr/>
        </p:nvSpPr>
        <p:spPr>
          <a:xfrm>
            <a:off x="5756820" y="3457575"/>
            <a:ext cx="5825579" cy="876300"/>
          </a:xfrm>
          <a:prstGeom prst="roundRect">
            <a:avLst>
              <a:gd fmla="val 1304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5756820" y="4524375"/>
            <a:ext cx="5825579" cy="876300"/>
          </a:xfrm>
          <a:prstGeom prst="roundRect">
            <a:avLst>
              <a:gd fmla="val 1304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6" name="Google Shape;9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800225"/>
            <a:ext cx="4766220" cy="419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" y="1800225"/>
            <a:ext cx="4766220" cy="4191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FUENTE DE DATOS SATELITALES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Serie Multitemporal Landsat (1989–2022)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5985420" y="2600325"/>
            <a:ext cx="6206579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Continuidad Multisensor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5985420" y="2876550"/>
            <a:ext cx="6206579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Landsat 5 TM, 7 ETM+, 8 OLI/TIRS y 9 OLI-2/TIRS-2.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5985420" y="3667125"/>
            <a:ext cx="6206579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Resolución Espacial y Remuestreo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5985420" y="3943350"/>
            <a:ext cx="6206579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Bandas térmicas nativas (60 a 120 m) remuestreadas a 30 m.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5985420" y="4733925"/>
            <a:ext cx="6206579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Estandarización Atmosférica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5985420" y="5010150"/>
            <a:ext cx="6206579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Productos Level-2 con corrección LEDAPS y LaSRC en USGS C2.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/>
          <p:nvPr/>
        </p:nvSpPr>
        <p:spPr>
          <a:xfrm>
            <a:off x="609600" y="3128069"/>
            <a:ext cx="2600325" cy="1611510"/>
          </a:xfrm>
          <a:prstGeom prst="roundRect">
            <a:avLst>
              <a:gd fmla="val 827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3400425" y="3128069"/>
            <a:ext cx="2600325" cy="1611510"/>
          </a:xfrm>
          <a:prstGeom prst="roundRect">
            <a:avLst>
              <a:gd fmla="val 827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6191250" y="3128069"/>
            <a:ext cx="2600325" cy="1611510"/>
          </a:xfrm>
          <a:prstGeom prst="roundRect">
            <a:avLst>
              <a:gd fmla="val 827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8982075" y="3128069"/>
            <a:ext cx="2600325" cy="1611510"/>
          </a:xfrm>
          <a:prstGeom prst="roundRect">
            <a:avLst>
              <a:gd fmla="val 827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METODOLOGÍA DE PROCESAMIENTO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Flujo de Recuperación Térmica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800100" y="3394769"/>
            <a:ext cx="2774156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01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800100" y="3794819"/>
            <a:ext cx="2912864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Filtrado de Escenas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800100" y="4099619"/>
            <a:ext cx="2314575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Imágenes libres de nubes en noviembre para control estacional.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3590925" y="3394769"/>
            <a:ext cx="2774156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02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3590925" y="3794819"/>
            <a:ext cx="2912864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Temperatura de Brillo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3590925" y="4099619"/>
            <a:ext cx="2314575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Conversión de radiancia espectral en Kelvin a nivel TOA.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6381750" y="3394769"/>
            <a:ext cx="2774156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03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6381750" y="3794819"/>
            <a:ext cx="2912864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Emisividad de Superficie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6381750" y="4099619"/>
            <a:ext cx="2314575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Estimación de LSE vía proporción de vegetación con NDVI.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9172575" y="3394769"/>
            <a:ext cx="2774156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04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9172575" y="3794819"/>
            <a:ext cx="2912864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Algoritmo LST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9172575" y="4099619"/>
            <a:ext cx="2314575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Cálculo monocanal basado en la función inversa de Planck.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6"/>
          <p:cNvSpPr/>
          <p:nvPr/>
        </p:nvSpPr>
        <p:spPr>
          <a:xfrm>
            <a:off x="609600" y="3038475"/>
            <a:ext cx="3505200" cy="1714500"/>
          </a:xfrm>
          <a:prstGeom prst="roundRect">
            <a:avLst>
              <a:gd fmla="val 888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4343400" y="3038475"/>
            <a:ext cx="3505200" cy="1714500"/>
          </a:xfrm>
          <a:prstGeom prst="roundRect">
            <a:avLst>
              <a:gd fmla="val 888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8077200" y="3033712"/>
            <a:ext cx="3505200" cy="1724025"/>
          </a:xfrm>
          <a:prstGeom prst="roundRect">
            <a:avLst>
              <a:gd fmla="val 883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5" name="Google Shape;13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6300" y="3348037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10100" y="3348037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43900" y="3348037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VARIABLES ESPECTRALES CLAVE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Indicadores Biofísicos de Cobertura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876300" y="3733800"/>
            <a:ext cx="3714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(NIR - Rojo) / (NIR + Rojo)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876300" y="4019550"/>
            <a:ext cx="30670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Proxy de biomasa activa y enfriamiento evaporativo.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4610100" y="3733800"/>
            <a:ext cx="3714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(SWIR1 - NIR) / (SWIR1 + NIR)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4610100" y="4019550"/>
            <a:ext cx="30670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Cuantificación de superficie impermeable y masa construida.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8343900" y="3738562"/>
            <a:ext cx="3714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Método de Umbrales NDVI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8343900" y="4024312"/>
            <a:ext cx="30670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Corrección térmica radiométrica por proporción de vegetación.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1219200" y="3343275"/>
            <a:ext cx="8001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NDVI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5010150" y="3343275"/>
            <a:ext cx="8001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NDBI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8715375" y="3338512"/>
            <a:ext cx="1668958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Emisividad (ε)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/>
          <p:nvPr/>
        </p:nvSpPr>
        <p:spPr>
          <a:xfrm>
            <a:off x="609600" y="2771775"/>
            <a:ext cx="5334000" cy="2247900"/>
          </a:xfrm>
          <a:prstGeom prst="roundRect">
            <a:avLst>
              <a:gd fmla="val 677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6248400" y="2771775"/>
            <a:ext cx="5334000" cy="2247900"/>
          </a:xfrm>
          <a:prstGeom prst="roundRect">
            <a:avLst>
              <a:gd fmla="val 677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4705350" y="3133725"/>
            <a:ext cx="895350" cy="228600"/>
          </a:xfrm>
          <a:prstGeom prst="roundRect">
            <a:avLst>
              <a:gd fmla="val 25000" name="adj"/>
            </a:avLst>
          </a:prstGeom>
          <a:solidFill>
            <a:srgbClr val="FFED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10391775" y="3133725"/>
            <a:ext cx="847725" cy="228600"/>
          </a:xfrm>
          <a:prstGeom prst="roundRect">
            <a:avLst>
              <a:gd fmla="val 25000" name="adj"/>
            </a:avLst>
          </a:prstGeom>
          <a:solidFill>
            <a:srgbClr val="E0F2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FUNDAMENTOS FÍSICOS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Divergencia: SUHI Satelital vs. UHI Atmosférica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952500" y="3114675"/>
            <a:ext cx="2037754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SUHI (Satelital)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4800600" y="3171825"/>
            <a:ext cx="800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EA580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LST Térmica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952500" y="3571875"/>
            <a:ext cx="5810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Origen Físico: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Radiación de calor emitida por techos y asfalto.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952500" y="3924300"/>
            <a:ext cx="5810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Magnitud en Cuenca: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Gradiente de 4.47 °C a 5.75 °C.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952500" y="4276725"/>
            <a:ext cx="4743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Ventaja Espacial: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Cobertura espacial continua a 30 metros de píxel.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6591300" y="3114675"/>
            <a:ext cx="22002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UHI (Estaciones)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10487025" y="3171825"/>
            <a:ext cx="7524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Aire (T_air)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6591300" y="3571875"/>
            <a:ext cx="56007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Origen Físico: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Temperatura atmosférica de capa de dosel a 2 m.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6591300" y="3924300"/>
            <a:ext cx="56007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Magnitud en Cuenca: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Amplitud térmica reportada de 3.24 °C.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6591300" y="4276725"/>
            <a:ext cx="4743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Limitación Espacial: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Muestreo puntual restringido por red meteorológica.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8"/>
          <p:cNvSpPr/>
          <p:nvPr/>
        </p:nvSpPr>
        <p:spPr>
          <a:xfrm>
            <a:off x="609600" y="3043237"/>
            <a:ext cx="3454449" cy="1857375"/>
          </a:xfrm>
          <a:prstGeom prst="roundRect">
            <a:avLst>
              <a:gd fmla="val 820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4368849" y="3043237"/>
            <a:ext cx="3454449" cy="1857375"/>
          </a:xfrm>
          <a:prstGeom prst="roundRect">
            <a:avLst>
              <a:gd fmla="val 820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/>
          <p:nvPr/>
        </p:nvSpPr>
        <p:spPr>
          <a:xfrm>
            <a:off x="8128099" y="3043237"/>
            <a:ext cx="3454449" cy="1857375"/>
          </a:xfrm>
          <a:prstGeom prst="roundRect">
            <a:avLst>
              <a:gd fmla="val 820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RESULTADOS CUANTITATIVOS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Intensificación Térmica en Cuenca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558793" y="3424237"/>
            <a:ext cx="3556062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EA580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5.75°C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558793" y="4110037"/>
            <a:ext cx="355606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Intensidad SUHI (2022)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558793" y="4348162"/>
            <a:ext cx="355606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Diferencial urbano frente a rural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4318043" y="3424237"/>
            <a:ext cx="3556062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+1.28°C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4318043" y="4110037"/>
            <a:ext cx="355606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Crecimiento Neto SUHII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4318043" y="4348162"/>
            <a:ext cx="355606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Evolución observada 1989–2022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8077293" y="3424237"/>
            <a:ext cx="3556062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42.76°C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8077293" y="4110037"/>
            <a:ext cx="355606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LST Máxima Registrada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8077293" y="4348162"/>
            <a:ext cx="355606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Pistas aéreas y zonas industriales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"/>
          <p:cNvSpPr/>
          <p:nvPr/>
        </p:nvSpPr>
        <p:spPr>
          <a:xfrm>
            <a:off x="609600" y="2738437"/>
            <a:ext cx="10972800" cy="2276475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2" name="Google Shape;192;p19"/>
          <p:cNvGraphicFramePr/>
          <p:nvPr/>
        </p:nvGraphicFramePr>
        <p:xfrm>
          <a:off x="609600" y="27384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{FD0208EB-5D56-46AC-85A6-A5F5AF3B8E33}</a:tableStyleId>
              </a:tblPr>
              <a:tblGrid>
                <a:gridCol w="1015150"/>
                <a:gridCol w="2720275"/>
                <a:gridCol w="1939375"/>
                <a:gridCol w="1627000"/>
                <a:gridCol w="1627000"/>
                <a:gridCol w="2044000"/>
              </a:tblGrid>
              <a:tr h="45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Año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Sensor Landsat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LST Media (°C)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NDVI Medio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NDBI Medio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Intensidad SUHI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45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1989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Landsat 5 TM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22.90 °C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16A34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0.41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EA580C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-0.08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284C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4.47 °C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2001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Landsat 7 ETM+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32.82 °C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16A34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0.36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EA580C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0.01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284C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5.48 °C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2013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Landsat 8 OLI/TIRS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28.10 °C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16A34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0.47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EA580C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-0.09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284C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4.66 °C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2022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Landsat 9 OLI-2/TIRS-2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30.07 °C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16A34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0.24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EA580C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-0.05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284C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5.75 °C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3" name="Google Shape;193;p1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EVOLUCIÓN TEMPORAL DEL SENSOR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Estadísticas Espectrales y Térmicas por Época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9" name="Google Shape;19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REGRESIÓN LINEAL SIMPLE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Fuerza Explicativa de Índices sobre LST (R²)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1"/>
          <p:cNvSpPr/>
          <p:nvPr/>
        </p:nvSpPr>
        <p:spPr>
          <a:xfrm>
            <a:off x="609600" y="2919412"/>
            <a:ext cx="3505200" cy="1952625"/>
          </a:xfrm>
          <a:prstGeom prst="roundRect">
            <a:avLst>
              <a:gd fmla="val 780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4343400" y="2919412"/>
            <a:ext cx="3505200" cy="1952625"/>
          </a:xfrm>
          <a:prstGeom prst="roundRect">
            <a:avLst>
              <a:gd fmla="val 780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8077200" y="2919412"/>
            <a:ext cx="3505200" cy="1952625"/>
          </a:xfrm>
          <a:prstGeom prst="roundRect">
            <a:avLst>
              <a:gd fmla="val 780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9" name="Google Shape;20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28850" y="3224212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62650" y="3224212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96450" y="3224212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EVALUACIÓN DE PRECISIÓN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Validación Cruzada: Landsat vs. MODIS Terra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361950" y="3643312"/>
            <a:ext cx="40005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Correlación Espacial</a:t>
            </a: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457200" y="3938587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0.57 – 0.82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457200" y="4395787"/>
            <a:ext cx="381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Coeficiente de Pearson con producto MOD11A1.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4095750" y="3643312"/>
            <a:ext cx="40005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Error Cuadrático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4191000" y="3938587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EA580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3.34°C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4191000" y="4395787"/>
            <a:ext cx="381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RMSE mínimo alcanzado para la escena 2022.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7829550" y="3643312"/>
            <a:ext cx="40005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Dispersión de Error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7924800" y="3938587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6A3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1.44°C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7924800" y="4395787"/>
            <a:ext cx="381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Desviación estándar de diferencias residuales.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2"/>
          <p:cNvSpPr/>
          <p:nvPr/>
        </p:nvSpPr>
        <p:spPr>
          <a:xfrm>
            <a:off x="609600" y="3052762"/>
            <a:ext cx="3505200" cy="1724025"/>
          </a:xfrm>
          <a:prstGeom prst="roundRect">
            <a:avLst>
              <a:gd fmla="val 773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2"/>
          <p:cNvSpPr/>
          <p:nvPr/>
        </p:nvSpPr>
        <p:spPr>
          <a:xfrm>
            <a:off x="4343400" y="3052762"/>
            <a:ext cx="3505200" cy="1724025"/>
          </a:xfrm>
          <a:prstGeom prst="roundRect">
            <a:avLst>
              <a:gd fmla="val 773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2"/>
          <p:cNvSpPr/>
          <p:nvPr/>
        </p:nvSpPr>
        <p:spPr>
          <a:xfrm>
            <a:off x="8077200" y="3052762"/>
            <a:ext cx="3505200" cy="1724025"/>
          </a:xfrm>
          <a:prstGeom prst="roundRect">
            <a:avLst>
              <a:gd fmla="val 773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0" name="Google Shape;23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3357562"/>
            <a:ext cx="2476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3357562"/>
            <a:ext cx="3143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05800" y="3357562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LÍMITES DEL SENSADO REMOTO</a:t>
            </a:r>
            <a:endParaRPr/>
          </a:p>
        </p:txBody>
      </p:sp>
      <p:sp>
        <p:nvSpPr>
          <p:cNvPr id="234" name="Google Shape;234;p22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Desafíos en Ambientes Andinos</a:t>
            </a:r>
            <a:endParaRPr/>
          </a:p>
        </p:txBody>
      </p:sp>
      <p:sp>
        <p:nvSpPr>
          <p:cNvPr id="235" name="Google Shape;235;p22"/>
          <p:cNvSpPr txBox="1"/>
          <p:nvPr/>
        </p:nvSpPr>
        <p:spPr>
          <a:xfrm>
            <a:off x="838200" y="3757612"/>
            <a:ext cx="40005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Efecto Topoclimático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838200" y="4071937"/>
            <a:ext cx="31432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Gradientes altitudinales (2560–3100 m) que superponen anomalías orográficas.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4572000" y="3757612"/>
            <a:ext cx="40005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Nubosidad Persistente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4572000" y="4071937"/>
            <a:ext cx="31432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Restricción temporal severa que limita la frecuencia estacional de análisis.</a:t>
            </a:r>
            <a:endParaRPr/>
          </a:p>
        </p:txBody>
      </p:sp>
      <p:sp>
        <p:nvSpPr>
          <p:cNvPr id="239" name="Google Shape;239;p22"/>
          <p:cNvSpPr txBox="1"/>
          <p:nvPr/>
        </p:nvSpPr>
        <p:spPr>
          <a:xfrm>
            <a:off x="8305800" y="3757612"/>
            <a:ext cx="38862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Discrepancia Multisensor</a:t>
            </a:r>
            <a:endParaRPr/>
          </a:p>
        </p:txBody>
      </p:sp>
      <p:sp>
        <p:nvSpPr>
          <p:cNvPr id="240" name="Google Shape;240;p22"/>
          <p:cNvSpPr txBox="1"/>
          <p:nvPr/>
        </p:nvSpPr>
        <p:spPr>
          <a:xfrm>
            <a:off x="8305800" y="4071937"/>
            <a:ext cx="31432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Variaciones en respuesta espectral y luz dispersa en TIRS Banda 11.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3"/>
          <p:cNvSpPr/>
          <p:nvPr/>
        </p:nvSpPr>
        <p:spPr>
          <a:xfrm>
            <a:off x="4148137" y="4663231"/>
            <a:ext cx="3895725" cy="428625"/>
          </a:xfrm>
          <a:prstGeom prst="roundRect">
            <a:avLst>
              <a:gd fmla="val 5000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6" name="Google Shape;24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14837" y="4791819"/>
            <a:ext cx="21907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3"/>
          <p:cNvSpPr txBox="1"/>
          <p:nvPr/>
        </p:nvSpPr>
        <p:spPr>
          <a:xfrm>
            <a:off x="4566046" y="1765994"/>
            <a:ext cx="3059906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CONCLUSIONES DEL TALLER</a:t>
            </a:r>
            <a:endParaRPr/>
          </a:p>
        </p:txBody>
      </p:sp>
      <p:sp>
        <p:nvSpPr>
          <p:cNvPr id="248" name="Google Shape;248;p23"/>
          <p:cNvSpPr txBox="1"/>
          <p:nvPr/>
        </p:nvSpPr>
        <p:spPr>
          <a:xfrm>
            <a:off x="845343" y="2099369"/>
            <a:ext cx="10501312" cy="1439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 sensor remoto térmico como herramienta crítica de diagnóstico urbano</a:t>
            </a:r>
            <a:endParaRPr/>
          </a:p>
        </p:txBody>
      </p:sp>
      <p:sp>
        <p:nvSpPr>
          <p:cNvPr id="249" name="Google Shape;249;p23"/>
          <p:cNvSpPr txBox="1"/>
          <p:nvPr/>
        </p:nvSpPr>
        <p:spPr>
          <a:xfrm>
            <a:off x="1928812" y="3767881"/>
            <a:ext cx="8334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 combinación de LST monocanal con índices biofísicos cuantifica de forma rigurosa el impacto del cambio de cobertura en microclimas de montaña.</a:t>
            </a:r>
            <a:endParaRPr/>
          </a:p>
        </p:txBody>
      </p:sp>
      <p:sp>
        <p:nvSpPr>
          <p:cNvPr id="250" name="Google Shape;250;p23"/>
          <p:cNvSpPr txBox="1"/>
          <p:nvPr/>
        </p:nvSpPr>
        <p:spPr>
          <a:xfrm>
            <a:off x="4369593" y="4777531"/>
            <a:ext cx="378618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Espacio de Preguntas y Discusión Técnica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5" name="Google Shape;25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0001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4"/>
          <p:cNvSpPr txBox="1"/>
          <p:nvPr/>
        </p:nvSpPr>
        <p:spPr>
          <a:xfrm>
            <a:off x="571500" y="571500"/>
            <a:ext cx="2187773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Image Sources</a:t>
            </a:r>
            <a:endParaRPr/>
          </a:p>
        </p:txBody>
      </p:sp>
      <p:sp>
        <p:nvSpPr>
          <p:cNvPr id="257" name="Google Shape;257;p24"/>
          <p:cNvSpPr txBox="1"/>
          <p:nvPr/>
        </p:nvSpPr>
        <p:spPr>
          <a:xfrm>
            <a:off x="1666875" y="1038225"/>
            <a:ext cx="492918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https://orbitalradar.com/images/blog/7eaa0a366762fbda-v2.jpg</a:t>
            </a:r>
            <a:endParaRPr/>
          </a:p>
        </p:txBody>
      </p:sp>
      <p:sp>
        <p:nvSpPr>
          <p:cNvPr id="258" name="Google Shape;258;p24"/>
          <p:cNvSpPr txBox="1"/>
          <p:nvPr/>
        </p:nvSpPr>
        <p:spPr>
          <a:xfrm>
            <a:off x="1666875" y="1238250"/>
            <a:ext cx="2250281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orbitalradar.com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